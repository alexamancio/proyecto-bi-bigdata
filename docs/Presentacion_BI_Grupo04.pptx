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2e081f4b-cda3-f1b8-4fe6-163328d46665}">
          <p14:sldIdLst>
            <p14:sldId id="256"/>
            <p14:sldId id="257"/>
          </p14:sldIdLst>
        </p14:section>
        <p14:section name="Problema y KPIs" id="{343a25ec-a79d-8cb5-af35-1aec348e2300}">
          <p14:sldIdLst>
            <p14:sldId id="258"/>
            <p14:sldId id="259"/>
          </p14:sldIdLst>
        </p14:section>
        <p14:section name="Solución" id="{c6ef0630-455c-f825-d29c-2c5c5c9f2a3f}">
          <p14:sldIdLst>
            <p14:sldId id="260"/>
            <p14:sldId id="261"/>
          </p14:sldIdLst>
        </p14:section>
        <p14:section name="Cierre" id="{7ab8f21a-4a41-e331-7482-5bfc86f4a6cc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B2D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1F3B2D"/>
                </a:solidFill>
                <a:latin typeface="+mj-lt"/>
              </a:rPr>
              <a:t>Reservas por mes: 2025 vs. 2026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5B7F6E"/>
            </a:solidFill>
            <a:ln w="38100" cap="flat">
              <a:solidFill>
                <a:srgbClr val="5B7F6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B7F6E"/>
              </a:solidFill>
              <a:ln w="9525" cap="flat">
                <a:solidFill>
                  <a:srgbClr val="5B7F6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Sep</c:v>
                  </c:pt>
                  <c:pt idx="9">
                    <c:v>Oct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361</c:v>
                </c:pt>
                <c:pt idx="1">
                  <c:v>354</c:v>
                </c:pt>
                <c:pt idx="2">
                  <c:v>301</c:v>
                </c:pt>
                <c:pt idx="3">
                  <c:v>271</c:v>
                </c:pt>
                <c:pt idx="4">
                  <c:v>259</c:v>
                </c:pt>
                <c:pt idx="5">
                  <c:v>242</c:v>
                </c:pt>
                <c:pt idx="6">
                  <c:v>333</c:v>
                </c:pt>
                <c:pt idx="7">
                  <c:v>277</c:v>
                </c:pt>
                <c:pt idx="8">
                  <c:v>249</c:v>
                </c:pt>
                <c:pt idx="9">
                  <c:v>262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E07A2E"/>
            </a:solidFill>
            <a:ln w="38100" cap="flat">
              <a:solidFill>
                <a:srgbClr val="E07A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07A2E"/>
              </a:solidFill>
              <a:ln w="9525" cap="flat">
                <a:solidFill>
                  <a:srgbClr val="E07A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Sep</c:v>
                  </c:pt>
                  <c:pt idx="9">
                    <c:v>Oct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334</c:v>
                </c:pt>
                <c:pt idx="1">
                  <c:v>317</c:v>
                </c:pt>
                <c:pt idx="2">
                  <c:v>280</c:v>
                </c:pt>
                <c:pt idx="3">
                  <c:v>250</c:v>
                </c:pt>
                <c:pt idx="4">
                  <c:v>225</c:v>
                </c:pt>
                <c:pt idx="5">
                  <c:v>200</c:v>
                </c:pt>
                <c:pt idx="6">
                  <c:v>180</c:v>
                </c:pt>
                <c:pt idx="7">
                  <c:v>155</c:v>
                </c:pt>
                <c:pt idx="8">
                  <c:v>130</c:v>
                </c:pt>
                <c:pt idx="9">
                  <c:v>108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7F6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DDE5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7F6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B2D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1F3B2D"/>
                </a:solidFill>
                <a:latin typeface="+mj-lt"/>
              </a:rPr>
              <a:t>No-llegada por zona de origen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No-llegada</c:v>
                </c:pt>
              </c:strCache>
            </c:strRef>
          </c:tx>
          <c:spPr>
            <a:solidFill>
              <a:srgbClr val="2E6B4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Cercana</c:v>
                  </c:pt>
                  <c:pt idx="1">
                    <c:v>Lima</c:v>
                  </c:pt>
                  <c:pt idx="2">
                    <c:v>Extranjero</c:v>
                  </c:pt>
                  <c:pt idx="3">
                    <c:v>Lejana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4.5</c:v>
                </c:pt>
                <c:pt idx="1">
                  <c:v>8.6</c:v>
                </c:pt>
                <c:pt idx="2">
                  <c:v>14.6</c:v>
                </c:pt>
                <c:pt idx="3">
                  <c:v>15.2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2A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7F6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B2D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1F3B2D"/>
                </a:solidFill>
                <a:latin typeface="+mj-lt"/>
              </a:rPr>
              <a:t>No-llegada por método de pago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No-llegada</c:v>
                </c:pt>
              </c:strCache>
            </c:strRef>
          </c:tx>
          <c:spPr>
            <a:solidFill>
              <a:srgbClr val="2E6B4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Transferencia</c:v>
                  </c:pt>
                  <c:pt idx="1">
                    <c:v>Tarjeta</c:v>
                  </c:pt>
                  <c:pt idx="2">
                    <c:v>Efectivo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6.8</c:v>
                </c:pt>
                <c:pt idx="1">
                  <c:v>8.3</c:v>
                </c:pt>
                <c:pt idx="2">
                  <c:v>13.5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2A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7F6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Presentamos la solución BI para Tunki Lodge, un hotel en Oxapampa. El objetivo: explicar por qué caen las reservas y en qué segmentos se concentra la no-llegada de huéspedes.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hotel ya tiene un sistema que registra cada estadía, pero la gerencia no puede responder por qué caen las reservas: la información no se consolida en el tiempo ni por segmento. Esa es la necesidad de BI. Datos 2024-2026 simulados con reglas que reproducen la operación del hotel.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2024 y 2025 el hotel se comportó normal, con cancelación estable de 5 %. En 2026 cada mes queda por debajo del mismo mes de 2025: de −7.5 % en enero a −58.8 % en octubre. Fecha de corte 23/10/2026.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KPIs se calculan con medidas DAX sobre el datamart y se actualizan después de cada ejecución del ETL. Los segmentos son las dimensiones del modelo: tiempo, cliente (zona), habitación, categoría y usuario.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ETL tiene 8 pasos. La calidad se aplica en el paso 6, antes de cargar los hechos: cada regla corrige o descarta registros y lo registra. Si falta un archivo, el paso queda en ERROR y el resto continúa. Se ejecuta solo cada noche.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Brecha de 10.7 puntos entre zona lejana y cercana, que supera la meta de 10 puntos. También cancelan más las categorías grandes (Cabaña y Domo), los clientes nuevos y los grupos de 5 o más. Es una asociación, no una causalidad demostrada.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BI permite pasar de un descuento general a ofertas dirigidas a los segmentos de mayor riesgo, y medir si funcionan con los mismos KPIs. A continuación, la demostración en vivo: ETL, calidad de datos y Power BI.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1F3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67665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80467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Tunki Lodge · Solución BI · Grupo 04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rgbClr val="1F3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6766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Factores asociados a la no‑llegada de huéspedes en Tunki Lodge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Solución de Inteligencia de Negocios · Base de Datos Avanzadas y Big Data (NRC 26055)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Grupo 04: Ayala Hernandez, G. · Bringas Veramendi, J. C. · Osorio Carbajal, M. · Racchumi Julon, Y. A. · Valencia Amancio, A.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Universidad Privada del Norte · 2026-2</a:t>
            </a:r>
            <a:endParaRPr lang="en-US" sz="1500" dirty="0"/>
          </a:p>
        </p:txBody>
      </p:sp>
      <p:sp>
        <p:nvSpPr>
          <p:cNvPr id="4" name="acento"/>
          <p:cNvSpPr/>
          <p:nvPr/>
        </p:nvSpPr>
        <p:spPr>
          <a:xfrm>
            <a:off x="7589520" y="411480"/>
            <a:ext cx="1097280" cy="1097280"/>
          </a:xfrm>
          <a:prstGeom prst="ellipse">
            <a:avLst/>
          </a:prstGeom>
          <a:solidFill>
            <a:srgbClr val="E07A2E"/>
          </a:solidFill>
          <a:ln w="12700">
            <a:solidFill>
              <a:srgbClr val="E07A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589520" y="4114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BI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Contexto: el sistema registra todo, pero no explica nada</a:t>
            </a:r>
            <a:endParaRPr lang="en-US" sz="2800" dirty="0"/>
          </a:p>
        </p:txBody>
      </p:sp>
      <p:sp>
        <p:nvSpPr>
          <p:cNvPr id="3" name="contexto"/>
          <p:cNvSpPr/>
          <p:nvPr/>
        </p:nvSpPr>
        <p:spPr>
          <a:xfrm>
            <a:off x="457200" y="1143000"/>
            <a:ext cx="3931920" cy="2514600"/>
          </a:xfrm>
          <a:prstGeom prst="roundRect">
            <a:avLst>
              <a:gd name="adj" fmla="val 2909"/>
            </a:avLst>
          </a:prstGeom>
          <a:solidFill>
            <a:srgbClr val="EEF3EE"/>
          </a:solidFill>
          <a:ln w="12700">
            <a:solidFill>
              <a:srgbClr val="EEF3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3611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Tunki Lodge (Oxapampa)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45 habitaciones en 6 categorías, de S/ 180 a S/ 450 por noche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Sistema web propio "Estadía": reservas, check-in, consumos, check-out, cancelación y no-show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Base operativa alquiler en SQL Server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280160"/>
            <a:ext cx="393192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¿Por qué hace falta BI?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Los datos están repartidos en tablas operativas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se comparan mes contra mes ni año contra año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se sabe qué tipo de cliente cancela más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hay control de calidad sobre los datos que se analizan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Problema: en 2026 las reservas caen y las cancelaciones se cuadruplican</a:t>
            </a:r>
            <a:endParaRPr lang="en-US" sz="2800" dirty="0"/>
          </a:p>
        </p:txBody>
      </p:sp>
      <p:sp>
        <p:nvSpPr>
          <p:cNvPr id="3" name="dato0"/>
          <p:cNvSpPr/>
          <p:nvPr/>
        </p:nvSpPr>
        <p:spPr>
          <a:xfrm>
            <a:off x="457200" y="114300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EEF3EE"/>
          </a:solidFill>
          <a:ln w="12700">
            <a:solidFill>
              <a:srgbClr val="EEF3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−25.1 %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737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reservas ene–oct 2026 vs. 2025</a:t>
            </a:r>
            <a:endParaRPr lang="en-US" sz="1200" dirty="0"/>
          </a:p>
        </p:txBody>
      </p:sp>
      <p:sp>
        <p:nvSpPr>
          <p:cNvPr id="6" name="dato1"/>
          <p:cNvSpPr/>
          <p:nvPr/>
        </p:nvSpPr>
        <p:spPr>
          <a:xfrm>
            <a:off x="457200" y="2304288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EEF3EE"/>
          </a:solidFill>
          <a:ln w="12700">
            <a:solidFill>
              <a:srgbClr val="EEF3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35000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−30.2 %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89864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ingreso cobrado</a:t>
            </a:r>
            <a:endParaRPr lang="en-US" sz="1200" dirty="0"/>
          </a:p>
        </p:txBody>
      </p:sp>
      <p:sp>
        <p:nvSpPr>
          <p:cNvPr id="9" name="dato2"/>
          <p:cNvSpPr/>
          <p:nvPr/>
        </p:nvSpPr>
        <p:spPr>
          <a:xfrm>
            <a:off x="457200" y="3465576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E07A2E"/>
          </a:solidFill>
          <a:ln w="12700">
            <a:solidFill>
              <a:srgbClr val="E07A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3511296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5 % → 19 %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405993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tasa de cancelación</a:t>
            </a:r>
            <a:endParaRPr lang="en-US" sz="12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3474720" y="1097280"/>
          <a:ext cx="52120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Cuatro KPIs, cada uno ligado a una decisión</a:t>
            </a:r>
            <a:endParaRPr lang="en-US" sz="2800" dirty="0"/>
          </a:p>
        </p:txBody>
      </p:sp>
      <p:sp>
        <p:nvSpPr>
          <p:cNvPr id="3" name="kpi0"/>
          <p:cNvSpPr/>
          <p:nvPr/>
        </p:nvSpPr>
        <p:spPr>
          <a:xfrm>
            <a:off x="457200" y="109728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EEF3EE"/>
          </a:solidFill>
          <a:ln w="12700">
            <a:solidFill>
              <a:srgbClr val="EEF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384048" cy="384048"/>
          </a:xfrm>
          <a:prstGeom prst="ellipse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5272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Variación interanual de reservas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55648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Fórmula: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(mes − mismo mes año anterior) / año anterior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Granularidad: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Mes y año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Decisión: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Cuándo y cuánto actuar</a:t>
            </a:r>
            <a:endParaRPr lang="en-US" sz="1200" dirty="0"/>
          </a:p>
        </p:txBody>
      </p:sp>
      <p:sp>
        <p:nvSpPr>
          <p:cNvPr id="8" name="kpi1"/>
          <p:cNvSpPr/>
          <p:nvPr/>
        </p:nvSpPr>
        <p:spPr>
          <a:xfrm>
            <a:off x="4663440" y="109728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EEF3EE"/>
          </a:solidFill>
          <a:ln w="12700">
            <a:solidFill>
              <a:srgbClr val="EEF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1280160"/>
            <a:ext cx="384048" cy="384048"/>
          </a:xfrm>
          <a:prstGeom prst="ellipse">
            <a:avLst/>
          </a:prstGeom>
          <a:solidFill>
            <a:srgbClr val="E07A2E"/>
          </a:solidFill>
          <a:ln w="12700">
            <a:solidFill>
              <a:srgbClr val="E07A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125272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Tasa de cancelación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755648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Fórmula: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canceladas / reservas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Granularidad: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Mes, zona, pago, categoría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Decisión: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Dónde exigir adelanto</a:t>
            </a:r>
            <a:endParaRPr lang="en-US" sz="1200" dirty="0"/>
          </a:p>
        </p:txBody>
      </p:sp>
      <p:sp>
        <p:nvSpPr>
          <p:cNvPr id="13" name="kpi2"/>
          <p:cNvSpPr/>
          <p:nvPr/>
        </p:nvSpPr>
        <p:spPr>
          <a:xfrm>
            <a:off x="457200" y="292608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EEF3EE"/>
          </a:solidFill>
          <a:ln w="12700">
            <a:solidFill>
              <a:srgbClr val="EEF3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108960"/>
            <a:ext cx="384048" cy="384048"/>
          </a:xfrm>
          <a:prstGeom prst="ellipse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308152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Tasa de no-show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584448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Fórmula: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no-show / reservas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Granularidad: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Mes, zona, pago, categoría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Decisión: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Reforzar confirmaciones</a:t>
            </a:r>
            <a:endParaRPr lang="en-US" sz="1200" dirty="0"/>
          </a:p>
        </p:txBody>
      </p:sp>
      <p:sp>
        <p:nvSpPr>
          <p:cNvPr id="18" name="kpi3"/>
          <p:cNvSpPr/>
          <p:nvPr/>
        </p:nvSpPr>
        <p:spPr>
          <a:xfrm>
            <a:off x="4663440" y="292608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EEF3EE"/>
          </a:solidFill>
          <a:ln w="12700">
            <a:solidFill>
              <a:srgbClr val="EEF3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3108960"/>
            <a:ext cx="384048" cy="384048"/>
          </a:xfrm>
          <a:prstGeom prst="ellipse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349240" y="308152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Ingreso por estadía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584448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Fórmula: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monto pagado / estadías finalizadas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Granularidad: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Mes y categoría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Decisión: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Valor de cada huésped que llega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Solución: ETL automatizado con calidad de datos y modelo estrella</a:t>
            </a:r>
            <a:endParaRPr lang="en-US" sz="2800" dirty="0"/>
          </a:p>
        </p:txBody>
      </p:sp>
      <p:sp>
        <p:nvSpPr>
          <p:cNvPr id="3" name="paso0"/>
          <p:cNvSpPr/>
          <p:nvPr/>
        </p:nvSpPr>
        <p:spPr>
          <a:xfrm>
            <a:off x="457200" y="1188720"/>
            <a:ext cx="1517904" cy="1920240"/>
          </a:xfrm>
          <a:prstGeom prst="roundRect">
            <a:avLst>
              <a:gd name="adj" fmla="val 4819"/>
            </a:avLst>
          </a:prstGeom>
          <a:solidFill>
            <a:srgbClr val="EEF3EE"/>
          </a:solidFill>
          <a:ln w="12700">
            <a:solidFill>
              <a:srgbClr val="EEF3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133502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Fuentes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133502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alquiler (SQL Server) + 3 archivos planos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938528" y="187452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›</a:t>
            </a:r>
            <a:endParaRPr lang="en-US" sz="2200" dirty="0"/>
          </a:p>
        </p:txBody>
      </p:sp>
      <p:sp>
        <p:nvSpPr>
          <p:cNvPr id="7" name="paso1"/>
          <p:cNvSpPr/>
          <p:nvPr/>
        </p:nvSpPr>
        <p:spPr>
          <a:xfrm>
            <a:off x="2139696" y="1188720"/>
            <a:ext cx="1517904" cy="1920240"/>
          </a:xfrm>
          <a:prstGeom prst="roundRect">
            <a:avLst>
              <a:gd name="adj" fmla="val 4819"/>
            </a:avLst>
          </a:prstGeom>
          <a:solidFill>
            <a:srgbClr val="EEF3EE"/>
          </a:solidFill>
          <a:ln w="12700">
            <a:solidFill>
              <a:srgbClr val="EEF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31136" y="1280160"/>
            <a:ext cx="133502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Staging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231136" y="1737360"/>
            <a:ext cx="133502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BULK INSERT con control de errores (TRY/CATCH)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621024" y="187452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›</a:t>
            </a:r>
            <a:endParaRPr lang="en-US" sz="2200" dirty="0"/>
          </a:p>
        </p:txBody>
      </p:sp>
      <p:sp>
        <p:nvSpPr>
          <p:cNvPr id="11" name="paso2"/>
          <p:cNvSpPr/>
          <p:nvPr/>
        </p:nvSpPr>
        <p:spPr>
          <a:xfrm>
            <a:off x="3822192" y="1188720"/>
            <a:ext cx="1517904" cy="1920240"/>
          </a:xfrm>
          <a:prstGeom prst="roundRect">
            <a:avLst>
              <a:gd name="adj" fmla="val 4819"/>
            </a:avLst>
          </a:prstGeom>
          <a:solidFill>
            <a:srgbClr val="E07A2E"/>
          </a:solidFill>
          <a:ln w="12700">
            <a:solidFill>
              <a:srgbClr val="E07A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13632" y="1280160"/>
            <a:ext cx="133502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Calidad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913632" y="1737360"/>
            <a:ext cx="133502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11 reglas: duplicados, inválidos, huérfanos → etl_calidad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303520" y="187452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›</a:t>
            </a:r>
            <a:endParaRPr lang="en-US" sz="2200" dirty="0"/>
          </a:p>
        </p:txBody>
      </p:sp>
      <p:sp>
        <p:nvSpPr>
          <p:cNvPr id="15" name="paso3"/>
          <p:cNvSpPr/>
          <p:nvPr/>
        </p:nvSpPr>
        <p:spPr>
          <a:xfrm>
            <a:off x="5504688" y="1188720"/>
            <a:ext cx="1517904" cy="1920240"/>
          </a:xfrm>
          <a:prstGeom prst="roundRect">
            <a:avLst>
              <a:gd name="adj" fmla="val 4819"/>
            </a:avLst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596128" y="1280160"/>
            <a:ext cx="133502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hotel_dw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596128" y="1737360"/>
            <a:ext cx="133502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Estrella: 5 dimensiones, 4 medidas, PK/FK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986016" y="187452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›</a:t>
            </a:r>
            <a:endParaRPr lang="en-US" sz="2200" dirty="0"/>
          </a:p>
        </p:txBody>
      </p:sp>
      <p:sp>
        <p:nvSpPr>
          <p:cNvPr id="19" name="paso4"/>
          <p:cNvSpPr/>
          <p:nvPr/>
        </p:nvSpPr>
        <p:spPr>
          <a:xfrm>
            <a:off x="7187184" y="1188720"/>
            <a:ext cx="1517904" cy="1920240"/>
          </a:xfrm>
          <a:prstGeom prst="roundRect">
            <a:avLst>
              <a:gd name="adj" fmla="val 4819"/>
            </a:avLst>
          </a:prstGeom>
          <a:solidFill>
            <a:srgbClr val="EEF3EE"/>
          </a:solidFill>
          <a:ln w="12700">
            <a:solidFill>
              <a:srgbClr val="EEF3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78624" y="1280160"/>
            <a:ext cx="133502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Power BI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278624" y="1737360"/>
            <a:ext cx="133502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Medidas DAX y 3 páginas interactivas</a:t>
            </a:r>
            <a:endParaRPr lang="en-US" sz="1200" dirty="0"/>
          </a:p>
        </p:txBody>
      </p:sp>
      <p:sp>
        <p:nvSpPr>
          <p:cNvPr id="22" name="automatizacion"/>
          <p:cNvSpPr/>
          <p:nvPr/>
        </p:nvSpPr>
        <p:spPr>
          <a:xfrm>
            <a:off x="457200" y="33832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EEF3EE"/>
          </a:solidFill>
          <a:ln w="12700">
            <a:solidFill>
              <a:srgbClr val="EEF3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3493008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Automatización: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ejecutar_etl.bat + Programador de tareas (todos los días 23:00).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Bitácora: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etl_log registra estado, duración y CPU de cada uno de los 8 pasos.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Rendimiento: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15 000 estadías en 3.5 s; 100 % de registros defectuosos detectados.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Hallazgo: la no-llegada se concentra en segmentos claros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40233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663440" y="1097280"/>
          <a:ext cx="40233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insight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EF3EE"/>
          </a:solidFill>
          <a:ln w="12700">
            <a:solidFill>
              <a:srgbClr val="EEF3EE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40080" y="3950208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Además, en 2026 crecieron justo estos segmentos: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pago en efectivo del 29 % al 44 % de las reservas y clientes de zonas lejanas del 26 % al 34 %.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Decisión: ofertas dirigidas en lugar de descuentos generales</a:t>
            </a:r>
            <a:endParaRPr lang="en-US" sz="2800" dirty="0"/>
          </a:p>
        </p:txBody>
      </p:sp>
      <p:sp>
        <p:nvSpPr>
          <p:cNvPr id="3" name="rec0"/>
          <p:cNvSpPr/>
          <p:nvPr/>
        </p:nvSpPr>
        <p:spPr>
          <a:xfrm>
            <a:off x="457200" y="114300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25880"/>
            <a:ext cx="384048" cy="384048"/>
          </a:xfrm>
          <a:prstGeom prst="ellipse">
            <a:avLst/>
          </a:prstGeom>
          <a:solidFill>
            <a:srgbClr val="E07A2E"/>
          </a:solidFill>
          <a:ln w="12700">
            <a:solidFill>
              <a:srgbClr val="E07A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9844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Prepago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709928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Descuento al pagar con tarjeta o transferencia al reservar</a:t>
            </a:r>
            <a:endParaRPr lang="en-US" sz="1300" dirty="0"/>
          </a:p>
        </p:txBody>
      </p:sp>
      <p:sp>
        <p:nvSpPr>
          <p:cNvPr id="8" name="rec1"/>
          <p:cNvSpPr/>
          <p:nvPr/>
        </p:nvSpPr>
        <p:spPr>
          <a:xfrm>
            <a:off x="4663440" y="114300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1325880"/>
            <a:ext cx="384048" cy="384048"/>
          </a:xfrm>
          <a:prstGeom prst="ellipse">
            <a:avLst/>
          </a:prstGeom>
          <a:solidFill>
            <a:srgbClr val="E07A2E"/>
          </a:solidFill>
          <a:ln w="12700">
            <a:solidFill>
              <a:srgbClr val="E07A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129844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Mercado cercano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1709928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Campañas en Huancayo, La Merced y Huánuco</a:t>
            </a:r>
            <a:endParaRPr lang="en-US" sz="1300" dirty="0"/>
          </a:p>
        </p:txBody>
      </p:sp>
      <p:sp>
        <p:nvSpPr>
          <p:cNvPr id="13" name="rec2"/>
          <p:cNvSpPr/>
          <p:nvPr/>
        </p:nvSpPr>
        <p:spPr>
          <a:xfrm>
            <a:off x="457200" y="256032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743200"/>
            <a:ext cx="384048" cy="384048"/>
          </a:xfrm>
          <a:prstGeom prst="ellipse">
            <a:avLst/>
          </a:prstGeom>
          <a:solidFill>
            <a:srgbClr val="E07A2E"/>
          </a:solidFill>
          <a:ln w="12700">
            <a:solidFill>
              <a:srgbClr val="E07A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71576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Fidelidad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127248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Beneficios para clientes recurrentes</a:t>
            </a:r>
            <a:endParaRPr lang="en-US" sz="1300" dirty="0"/>
          </a:p>
        </p:txBody>
      </p:sp>
      <p:sp>
        <p:nvSpPr>
          <p:cNvPr id="18" name="rec3"/>
          <p:cNvSpPr/>
          <p:nvPr/>
        </p:nvSpPr>
        <p:spPr>
          <a:xfrm>
            <a:off x="4663440" y="256032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2743200"/>
            <a:ext cx="384048" cy="384048"/>
          </a:xfrm>
          <a:prstGeom prst="ellipse">
            <a:avLst/>
          </a:prstGeom>
          <a:solidFill>
            <a:srgbClr val="E07A2E"/>
          </a:solidFill>
          <a:ln w="12700">
            <a:solidFill>
              <a:srgbClr val="E07A2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349240" y="271576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Adelanto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349240" y="3127248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Obligatorio en Cabaña, Domo y grupos de 5 o más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Siguiente paso: registrar la fecha y el canal de la reserva, y medir el efecto de las ofertas en el mismo dashboard.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nki Lodge">
  <a:themeElements>
    <a:clrScheme name="Tunki Lodge">
      <a:dk1>
        <a:srgbClr val="1B2A22"/>
      </a:dk1>
      <a:lt1>
        <a:srgbClr val="FFFFFF"/>
      </a:lt1>
      <a:dk2>
        <a:srgbClr val="1F3B2D"/>
      </a:dk2>
      <a:lt2>
        <a:srgbClr val="EEF3EE"/>
      </a:lt2>
      <a:accent1>
        <a:srgbClr val="2E6B4F"/>
      </a:accent1>
      <a:accent2>
        <a:srgbClr val="E07A2E"/>
      </a:accent2>
      <a:accent3>
        <a:srgbClr val="8DB580"/>
      </a:accent3>
      <a:accent4>
        <a:srgbClr val="5B7F6E"/>
      </a:accent4>
      <a:accent5>
        <a:srgbClr val="C9D9CF"/>
      </a:accent5>
      <a:accent6>
        <a:srgbClr val="B4462F"/>
      </a:accent6>
      <a:hlink>
        <a:srgbClr val="2E6B4F"/>
      </a:hlink>
      <a:folHlink>
        <a:srgbClr val="5B7F6E"/>
      </a:folHlink>
    </a:clrScheme>
    <a:fontScheme name="Tunki Lodg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Solución BI · Tunki Lodge</dc:title>
  <dc:subject>PptxGenJS Presentation</dc:subject>
  <dc:creator>Grupo 04</dc:creator>
  <cp:lastModifiedBy>Grupo 04</cp:lastModifiedBy>
  <cp:revision>1</cp:revision>
  <dcterms:created xsi:type="dcterms:W3CDTF">2026-10-24T01:48:40Z</dcterms:created>
  <dcterms:modified xsi:type="dcterms:W3CDTF">2026-10-24T01:48:40Z</dcterms:modified>
</cp:coreProperties>
</file>